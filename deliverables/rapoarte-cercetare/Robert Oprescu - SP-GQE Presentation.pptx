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SP-GQE: Semantic Pruning on Graph-structured Query Expansion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Robert Oprescu</a:t>
            </a:r>
          </a:p>
          <a:p>
            <a:r>
              <a:t>Motivation · Method · Results</a:t>
            </a:r>
          </a:p>
          <a:p>
            <a:r>
              <a:t>HotpotQA distractor — 680 questions · 28 seeds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Motivation &amp; hypothesis (H1)</a:t>
            </a:r>
          </a:p>
          <a:p>
            <a:pPr>
              <a:spcAft>
                <a:spcPts val="800"/>
              </a:spcAft>
              <a:defRPr sz="1600"/>
            </a:pPr>
            <a:r>
              <a:t>Method: per-question RDF graph + two SPARQL branches</a:t>
            </a:r>
          </a:p>
          <a:p>
            <a:pPr>
              <a:spcAft>
                <a:spcPts val="800"/>
              </a:spcAft>
              <a:defRPr sz="1600"/>
            </a:pPr>
            <a:r>
              <a:t>Top-down pipeline logic (fusion &amp; semantic pruning)</a:t>
            </a:r>
          </a:p>
          <a:p>
            <a:pPr>
              <a:spcAft>
                <a:spcPts val="800"/>
              </a:spcAft>
              <a:defRPr sz="1600"/>
            </a:pPr>
            <a:r>
              <a:t>Fair baselines &amp; evaluation design</a:t>
            </a:r>
          </a:p>
          <a:p>
            <a:pPr>
              <a:spcAft>
                <a:spcPts val="800"/>
              </a:spcAft>
              <a:defRPr sz="1600"/>
            </a:pPr>
            <a:r>
              <a:t>Results at scale (680 questions, 28 seeds)</a:t>
            </a:r>
          </a:p>
          <a:p>
            <a:pPr>
              <a:spcAft>
                <a:spcPts val="800"/>
              </a:spcAft>
              <a:defRPr sz="1600"/>
            </a:pPr>
            <a:r>
              <a:t>Heatmap (n, τ) selection &amp; graph-query validity</a:t>
            </a:r>
          </a:p>
          <a:p>
            <a:pPr>
              <a:spcAft>
                <a:spcPts val="800"/>
              </a:spcAft>
              <a:defRPr sz="1600"/>
            </a:pPr>
            <a:r>
              <a:t>SPARQL query + result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Multi-hop QA needs evidence across paragraphs — dense RAG may miss bridge facts.</a:t>
            </a:r>
          </a:p>
          <a:p>
            <a:pPr>
              <a:spcAft>
                <a:spcPts val="800"/>
              </a:spcAft>
              <a:defRPr sz="1600"/>
            </a:pPr>
            <a:r>
              <a:t>Graph-augmented systems vary in where structure acts (index vs query time).</a:t>
            </a:r>
          </a:p>
          <a:p>
            <a:pPr>
              <a:spcAft>
                <a:spcPts val="800"/>
              </a:spcAft>
              <a:defRPr sz="1600"/>
            </a:pPr>
            <a:r>
              <a:t>SP-GQE: lightweight, training-free, query-time SPARQL on an in-corpus co-occurrence graph.</a:t>
            </a:r>
          </a:p>
          <a:p>
            <a:pPr>
              <a:spcAft>
                <a:spcPts val="800"/>
              </a:spcAft>
              <a:defRPr sz="1600"/>
            </a:pPr>
            <a:r>
              <a:t>No external KB — only HotpotQA’s 10 distractor paragraphs per question.</a:t>
            </a:r>
          </a:p>
          <a:p>
            <a:pPr>
              <a:spcAft>
                <a:spcPts val="800"/>
              </a:spcAft>
              <a:defRPr sz="1600"/>
            </a:pPr>
            <a:r>
              <a:t>Fair comparison: same FAISS index, MiniLM embeddings, Groq reader for all pipelines.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2560320" cy="1005840"/>
          </a:xfrm>
          <a:prstGeom prst="rect">
            <a:avLst/>
          </a:prstGeom>
          <a:solidFill>
            <a:srgbClr val="EDF2F7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DD6B20"/>
                </a:solidFill>
              </a:defRPr>
            </a:pPr>
            <a:r>
              <a:t>680</a:t>
            </a:r>
          </a:p>
          <a:p>
            <a:pPr algn="l">
              <a:defRPr sz="1100">
                <a:solidFill>
                  <a:srgbClr val="1A365D"/>
                </a:solidFill>
              </a:defRPr>
            </a:pPr>
            <a:r>
              <a:t>questions evaluated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2286000"/>
            <a:ext cx="2560320" cy="1005840"/>
          </a:xfrm>
          <a:prstGeom prst="rect">
            <a:avLst/>
          </a:prstGeom>
          <a:solidFill>
            <a:srgbClr val="EDF2F7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DD6B20"/>
                </a:solidFill>
              </a:defRPr>
            </a:pPr>
            <a:r>
              <a:t>28</a:t>
            </a:r>
          </a:p>
          <a:p>
            <a:pPr algn="l">
              <a:defRPr sz="1100">
                <a:solidFill>
                  <a:srgbClr val="1A365D"/>
                </a:solidFill>
              </a:defRPr>
            </a:pPr>
            <a:r>
              <a:t>random seeds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474720"/>
            <a:ext cx="2560320" cy="1005840"/>
          </a:xfrm>
          <a:prstGeom prst="rect">
            <a:avLst/>
          </a:prstGeom>
          <a:solidFill>
            <a:srgbClr val="EDF2F7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DD6B20"/>
                </a:solidFill>
              </a:defRPr>
            </a:pPr>
            <a:r>
              <a:t>50%</a:t>
            </a:r>
          </a:p>
          <a:p>
            <a:pPr algn="l">
              <a:defRPr sz="1100">
                <a:solidFill>
                  <a:srgbClr val="1A365D"/>
                </a:solidFill>
              </a:defRPr>
            </a:pPr>
            <a:r>
              <a:t>bridge / comparison stratified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Hypothesis H1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H1: SP-GQE improves token F1 vs V-RAG on bridge questions (multi-hop linking).</a:t>
            </a:r>
          </a:p>
          <a:p>
            <a:pPr>
              <a:spcAft>
                <a:spcPts val="800"/>
              </a:spcAft>
              <a:defRPr sz="1600"/>
            </a:pPr>
            <a:r>
              <a:t>Null: on comparison questions, dense retrieval often suffices.</a:t>
            </a:r>
          </a:p>
          <a:p>
            <a:pPr>
              <a:spcAft>
                <a:spcPts val="800"/>
              </a:spcAft>
              <a:defRPr sz="1600"/>
            </a:pPr>
            <a:r>
              <a:t>Diagnostics: Do branches complement? Does τ pruning trade P for 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Method — top-down pipeline (two-branch logic)</a:t>
            </a:r>
          </a:p>
        </p:txBody>
      </p:sp>
      <p:pic>
        <p:nvPicPr>
          <p:cNvPr id="4" name="Picture 3" descr="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8503920" cy="59784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Method — RDF graph &amp; SPARQL 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Graph: spaCy entities + symmetric spg:coOccurs within sentences + rdfs:label.</a:t>
            </a:r>
          </a:p>
          <a:p>
            <a:pPr>
              <a:spcAft>
                <a:spcPts val="800"/>
              </a:spcAft>
              <a:defRPr sz="1600"/>
            </a:pPr>
            <a:r>
              <a:t>Branch 1: bounded property paths from NER seeds (n hops) → set A.</a:t>
            </a:r>
          </a:p>
          <a:p>
            <a:pPr>
              <a:spcAft>
                <a:spcPts val="800"/>
              </a:spcAft>
              <a:defRPr sz="1600"/>
            </a:pPr>
            <a:r>
              <a:t>Branch 2: CONTAINS filters on labels from noun-chunk keywords → set B.</a:t>
            </a:r>
          </a:p>
          <a:p>
            <a:pPr>
              <a:spcAft>
                <a:spcPts val="800"/>
              </a:spcAft>
              <a:defRPr sz="1600"/>
            </a:pPr>
            <a:r>
              <a:t>Default protocol: n=2, τ=0.5; heatmap sweep n∈{1,2,3}, τ∈{0.3…0.7}.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Baselines (same index + reader)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Pipeline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Graph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V-RAG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Dense retrieval on question only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GQE-RAG (n=2)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Branch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Structural expansion, no τ prune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SP-GQE (n=2, τ=0.5)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 ∪ B + prune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Primary system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SP-GQE-i (n=3, τ=0.5)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Iterative 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Ablated variant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GR-RAG / GF-RAG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Lexical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Graph-adjacent controls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Evaluation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Primary metric: token F1; secondary: EM, supporting-title recall@k, P@k.</a:t>
            </a:r>
          </a:p>
          <a:p>
            <a:pPr>
              <a:spcAft>
                <a:spcPts val="800"/>
              </a:spcAft>
              <a:defRPr sz="1600"/>
            </a:pPr>
            <a:r>
              <a:t>Paired ΔF1: SP-GQE − V-RAG with bootstrap 95% CI (bridge / comparison).</a:t>
            </a:r>
          </a:p>
          <a:p>
            <a:pPr>
              <a:spcAft>
                <a:spcPts val="800"/>
              </a:spcAft>
              <a:defRPr sz="1600"/>
            </a:pPr>
            <a:r>
              <a:t>Graph-query validity: P/R vs gold supporting NER at 4 stages.</a:t>
            </a:r>
          </a:p>
          <a:p>
            <a:pPr>
              <a:spcAft>
                <a:spcPts val="800"/>
              </a:spcAft>
              <a:defRPr sz="1600"/>
            </a:pPr>
            <a:r>
              <a:t>Aggregation: mean ± 95% CI across seed-level means; multi-day daily_runs JSON.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371600"/>
            <a:ext cx="2743200" cy="914400"/>
          </a:xfrm>
          <a:prstGeom prst="rect">
            <a:avLst/>
          </a:prstGeom>
          <a:solidFill>
            <a:srgbClr val="EDF2F7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DD6B20"/>
                </a:solidFill>
              </a:defRPr>
            </a:pPr>
            <a:r>
              <a:t>680</a:t>
            </a:r>
          </a:p>
          <a:p>
            <a:pPr algn="l">
              <a:defRPr sz="1100">
                <a:solidFill>
                  <a:srgbClr val="1A365D"/>
                </a:solidFill>
              </a:defRPr>
            </a:pPr>
            <a:r>
              <a:t>question instances (full study)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2468880"/>
            <a:ext cx="2743200" cy="914400"/>
          </a:xfrm>
          <a:prstGeom prst="rect">
            <a:avLst/>
          </a:prstGeom>
          <a:solidFill>
            <a:srgbClr val="EDF2F7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DD6B20"/>
                </a:solidFill>
              </a:defRPr>
            </a:pPr>
            <a:r>
              <a:t>562</a:t>
            </a:r>
          </a:p>
          <a:p>
            <a:pPr algn="l">
              <a:defRPr sz="1100">
                <a:solidFill>
                  <a:srgbClr val="1A365D"/>
                </a:solidFill>
              </a:defRPr>
            </a:pPr>
            <a:r>
              <a:t>questions (semester preliminary)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Results — experiment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011680" cy="1097280"/>
          </a:xfrm>
          <a:prstGeom prst="rect">
            <a:avLst/>
          </a:prstGeom>
          <a:solidFill>
            <a:srgbClr val="EDF2F7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DD6B20"/>
                </a:solidFill>
              </a:defRPr>
            </a:pPr>
            <a:r>
              <a:t>680</a:t>
            </a:r>
          </a:p>
          <a:p>
            <a:pPr algn="l">
              <a:defRPr sz="1100">
                <a:solidFill>
                  <a:srgbClr val="1A365D"/>
                </a:solidFill>
              </a:defRPr>
            </a:pPr>
            <a:r>
              <a:t>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097280"/>
            <a:ext cx="2011680" cy="1097280"/>
          </a:xfrm>
          <a:prstGeom prst="rect">
            <a:avLst/>
          </a:prstGeom>
          <a:solidFill>
            <a:srgbClr val="EDF2F7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DD6B20"/>
                </a:solidFill>
              </a:defRPr>
            </a:pPr>
            <a:r>
              <a:t>28</a:t>
            </a:r>
          </a:p>
          <a:p>
            <a:pPr algn="l">
              <a:defRPr sz="1100">
                <a:solidFill>
                  <a:srgbClr val="1A365D"/>
                </a:solidFill>
              </a:defRPr>
            </a:pPr>
            <a:r>
              <a:t>seeds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1097280"/>
            <a:ext cx="2011680" cy="1097280"/>
          </a:xfrm>
          <a:prstGeom prst="rect">
            <a:avLst/>
          </a:prstGeom>
          <a:solidFill>
            <a:srgbClr val="EDF2F7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DD6B20"/>
                </a:solidFill>
              </a:defRPr>
            </a:pPr>
            <a:r>
              <a:t>24</a:t>
            </a:r>
          </a:p>
          <a:p>
            <a:pPr algn="l">
              <a:defRPr sz="1100">
                <a:solidFill>
                  <a:srgbClr val="1A365D"/>
                </a:solidFill>
              </a:defRPr>
            </a:pPr>
            <a:r>
              <a:t>heatmap seeds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097280"/>
            <a:ext cx="1828800" cy="1097280"/>
          </a:xfrm>
          <a:prstGeom prst="rect">
            <a:avLst/>
          </a:prstGeom>
          <a:solidFill>
            <a:srgbClr val="EDF2F7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800" b="1">
                <a:solidFill>
                  <a:srgbClr val="DD6B20"/>
                </a:solidFill>
              </a:defRPr>
            </a:pPr>
            <a:r>
              <a:t>580</a:t>
            </a:r>
          </a:p>
          <a:p>
            <a:pPr algn="l">
              <a:defRPr sz="1100">
                <a:solidFill>
                  <a:srgbClr val="1A365D"/>
                </a:solidFill>
              </a:defRPr>
            </a:pPr>
            <a:r>
              <a:t>heatmap weight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Reader: Groq llama-3.1-8b-instant (T=0). Embeddings: all-MiniLM-L6-v2.</a:t>
            </a:r>
          </a:p>
          <a:p>
            <a:pPr>
              <a:spcAft>
                <a:spcPts val="800"/>
              </a:spcAft>
              <a:defRPr sz="1600"/>
            </a:pPr>
            <a:r>
              <a:t>Merged-grid best: n=1, τ=0.6 (pooled F1=0.577).</a:t>
            </a:r>
          </a:p>
          <a:p>
            <a:pPr>
              <a:spcAft>
                <a:spcPts val="800"/>
              </a:spcAft>
              <a:defRPr sz="1600"/>
            </a:pPr>
            <a:r>
              <a:t>Protocol-default SP-GQE (2, 0.5) used for validity &amp; appendix paired tests.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Results — mean token F1 by pipeline</a:t>
            </a:r>
          </a:p>
        </p:txBody>
      </p:sp>
      <p:pic>
        <p:nvPicPr>
          <p:cNvPr id="4" name="Picture 3" descr="pipeline_f1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77240"/>
            <a:ext cx="7772400" cy="43289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520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18096"/>
                </a:solidFill>
              </a:defRPr>
            </a:pPr>
            <a:r>
              <a:t>28 seeds, 680 questions; error bars = 95% CI on seed means in aggregate tables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Results — pipeline table (28 seeds)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Pipeline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Mean F1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P@k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GR-RAG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[0.536, 0.600]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0.6718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V-RAG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[0.531, 0.594]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0.6718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GQE-RAG(n=2)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0.5622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[0.527, 0.597]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0.6630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SP-GQE(n=2,τ=0.5)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0.5557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[0.528, 0.584]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0.6344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SP-GQE(n=1,τ=0.6)*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0.5778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[0.550, 0.605]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0.6469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Results — SP-GQE(2,0.5) − V-RAG paired ΔF1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Subset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Mean Δ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Bootstrap 95% CI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 pairs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-0.0034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[-0.028, 0.021]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327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-0.0086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[-0.038, 0.020]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353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CIs include zero → no statistically reliable F1 gain vs V-RAG at this scale (H1 not confirmed).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Results — merged (n, τ) heatmaps (weight=580)</a:t>
            </a:r>
          </a:p>
        </p:txBody>
      </p:sp>
      <p:pic>
        <p:nvPicPr>
          <p:cNvPr id="4" name="Picture 3" descr="heatmap_merged_mean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85800"/>
            <a:ext cx="4206240" cy="2804160"/>
          </a:xfrm>
          <a:prstGeom prst="rect">
            <a:avLst/>
          </a:prstGeom>
        </p:spPr>
      </p:pic>
      <p:pic>
        <p:nvPicPr>
          <p:cNvPr id="5" name="Picture 4" descr="heatmap_merged_mean_p_at_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85800"/>
            <a:ext cx="4206240" cy="2804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94360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Argmax pooled F1 → n*=1, τ*=0.6 (SP-GQE mean F1=0.5778 on 24 heatmap seeds)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Results — graph-query validity (680 questions)</a:t>
            </a:r>
          </a:p>
        </p:txBody>
      </p:sp>
      <p:pic>
        <p:nvPicPr>
          <p:cNvPr id="4" name="Picture 3" descr="validity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22960"/>
            <a:ext cx="7315200" cy="40742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029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Union recall &gt; Branch 2 alone → branches are complementary.</a:t>
            </a:r>
          </a:p>
          <a:p>
            <a:pPr>
              <a:spcAft>
                <a:spcPts val="800"/>
              </a:spcAft>
              <a:defRPr sz="1600"/>
            </a:pPr>
            <a:r>
              <a:t>τ=0.5 increases precision, lowers recall → pruning trade-off.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SPARQL sample 1: [comparison]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Which of the following bands is considered "one of the most accomplished and creative Christian b…</a:t>
            </a:r>
          </a:p>
          <a:p>
            <a:pPr>
              <a:defRPr sz="1000">
                <a:solidFill>
                  <a:srgbClr val="718096"/>
                </a:solidFill>
              </a:defRPr>
            </a:pPr>
            <a:r>
              <a:t>Gold: Poor Old Lu  |  F1 SP-GQE / V-RAG: 1.000 / 1.000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/>
            </a:pPr>
            <a:r>
              <a:t>Branch 1: structural n-hop (SPARQL)</a:t>
            </a:r>
          </a:p>
          <a:p>
            <a:pPr>
              <a:defRPr sz="700">
                <a:latin typeface="Consolas"/>
              </a:defRPr>
            </a:pPr>
            <a:r>
              <a:t>PREFIX spg: &lt;http://spgqe.local/&gt;</a:t>
            </a:r>
            <a:br/>
            <a:r>
              <a:t>SELECT DISTINCT ?t WHERE {</a:t>
            </a:r>
            <a:br/>
            <a:r>
              <a:t>  VALUES ?s { &lt;http://spgqe.local/e#the_90s&gt; &lt;http://spgqe.local/e#christian&gt; &lt;http://spgqe.local/e#one&gt; }</a:t>
            </a:r>
            <a:br/>
            <a:r>
              <a:t>  { ?s spg:coOccurs ?t } UNION</a:t>
            </a:r>
            <a:br/>
            <a:r>
              <a:t>  { ?s spg:coOccurs/spg:coOccurs ?t }</a:t>
            </a:r>
            <a:br/>
            <a:r>
              <a:t>}</a:t>
            </a:r>
          </a:p>
          <a:p>
            <a:pPr>
              <a:defRPr sz="800"/>
            </a:pPr>
            <a:r>
              <a:t>Results (n=32): ['1854', '1990s', '2005', '6009', '9', '90s', 's", ', ', ', ', ', ', ', … (+14 more)]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38328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/>
            </a:pPr>
            <a:r>
              <a:t>Branch 2: keyword / semantic (SPARQL)</a:t>
            </a:r>
          </a:p>
          <a:p>
            <a:pPr>
              <a:defRPr sz="700">
                <a:latin typeface="Consolas"/>
              </a:defRPr>
            </a:pPr>
            <a:r>
              <a:t>PREFIX spg: &lt;http://spgqe.local/&gt;</a:t>
            </a:r>
            <a:br/>
            <a:r>
              <a:t>PREFIX rdfs: &lt;http://www.w3.org/2000/01/rdf-schema#&gt;</a:t>
            </a:r>
            <a:br/>
            <a:r>
              <a:t>SELECT DISTINCT ?e ?label WHERE {</a:t>
            </a:r>
            <a:br/>
            <a:r>
              <a:t>  ?e a spg:Entity ; rdfs:label ?label .</a:t>
            </a:r>
            <a:br/>
            <a:r>
              <a:t>  FILTER(CONTAINS(LCASE(STR(?label)), "following") || CONTAINS(LCASE(STR(?label)), "bands") || CONTAINS(LCASE(STR(?label)), "accomplished") || CONTAINS(LCASE(STR(?label)), "creative") || CONTAINS(LCASE(STR(?label)), "christian") || CONTAINS(LCASE(STR(?label)), "poor") || CONTAINS(LCASE(STR(?label)), "old") || CONTAINS(LCASE(STR(?label)), "shudder"))</a:t>
            </a:r>
            <a:br/>
            <a:r>
              <a:t>}</a:t>
            </a:r>
          </a:p>
          <a:p>
            <a:pPr>
              <a:defRPr sz="800"/>
            </a:pPr>
            <a:r>
              <a:t>Results (n=7): ['a poor old man', 'christian', 'contemporary christian music', 'poor old man', 'shudder to think', 'the poor old', 'the poor old lady']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344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/>
            </a:pPr>
            <a:r>
              <a:t>Fusion, pruning &amp; validity</a:t>
            </a:r>
          </a:p>
          <a:p>
            <a:pPr>
              <a:defRPr sz="900"/>
            </a:pPr>
            <a:r>
              <a:t>Union |A∪B| = 35</a:t>
            </a:r>
          </a:p>
          <a:p>
            <a:pPr>
              <a:defRPr sz="900"/>
            </a:pPr>
            <a:r>
              <a:t>Kept @τ=0.5 (n=9): ['christian', 'contemporary christian music', 'lu', 'one', 'poor old man', 'shudder to think', '90s", ', ', ']</a:t>
            </a:r>
          </a:p>
          <a:p>
            <a:pPr>
              <a:defRPr sz="900"/>
            </a:pPr>
            <a:r>
              <a:t>Top cosine: shudder to think (0.841), lu (0.715), contemporary christian music (0.694), the poor old (0.573)</a:t>
            </a:r>
          </a:p>
          <a:p>
            <a:pPr>
              <a:defRPr sz="900"/>
            </a:pPr>
            <a:r>
              <a:t>Validity: Branch 1 (n-hop): P=0.219 R=0.467  |  Branch 2 (keyword): P=0.286 R=0.133  |  Union: P=0.200 R=0.467  |  Kept after τ: P=0.556 R=0.333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SPARQL sample 2: [comparison]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Which band, A Silent Film or The Frames, has more members?</a:t>
            </a:r>
          </a:p>
          <a:p>
            <a:pPr>
              <a:defRPr sz="1000">
                <a:solidFill>
                  <a:srgbClr val="718096"/>
                </a:solidFill>
              </a:defRPr>
            </a:pPr>
            <a:r>
              <a:t>Gold: The Frames  |  F1 SP-GQE / V-RAG: 1.000 / 1.000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/>
            </a:pPr>
            <a:r>
              <a:t>Branch 1: structural n-hop (SPARQL)</a:t>
            </a:r>
          </a:p>
          <a:p>
            <a:pPr>
              <a:defRPr sz="700">
                <a:latin typeface="Consolas"/>
              </a:defRPr>
            </a:pPr>
            <a:r>
              <a:t>PREFIX spg: &lt;http://spgqe.local/&gt;</a:t>
            </a:r>
            <a:br/>
            <a:r>
              <a:t>SELECT DISTINCT ?t WHERE {</a:t>
            </a:r>
            <a:br/>
            <a:r>
              <a:t>  VALUES ?s { &lt;http://spgqe.local/e#frames&gt; }</a:t>
            </a:r>
            <a:br/>
            <a:r>
              <a:t>  { ?s spg:coOccurs ?t } UNION</a:t>
            </a:r>
            <a:br/>
            <a:r>
              <a:t>  { ?s spg:coOccurs/spg:coOccurs ?t }</a:t>
            </a:r>
            <a:br/>
            <a:r>
              <a:t>}</a:t>
            </a:r>
          </a:p>
          <a:p>
            <a:pPr>
              <a:defRPr sz="800"/>
            </a:pPr>
            <a:r>
              <a:t>Results (n=6): ['1990', 'dublin', 'frames', 'glen hansard', 'irish', 'six']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38328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/>
            </a:pPr>
            <a:r>
              <a:t>Branch 2: keyword / semantic (SPARQL)</a:t>
            </a:r>
          </a:p>
          <a:p>
            <a:pPr>
              <a:defRPr sz="700">
                <a:latin typeface="Consolas"/>
              </a:defRPr>
            </a:pPr>
            <a:r>
              <a:t>PREFIX spg: &lt;http://spgqe.local/&gt;</a:t>
            </a:r>
            <a:br/>
            <a:r>
              <a:t>PREFIX rdfs: &lt;http://www.w3.org/2000/01/rdf-schema#&gt;</a:t>
            </a:r>
            <a:br/>
            <a:r>
              <a:t>SELECT DISTINCT ?e ?label WHERE {</a:t>
            </a:r>
            <a:br/>
            <a:r>
              <a:t>  ?e a spg:Entity ; rdfs:label ?label .</a:t>
            </a:r>
            <a:br/>
            <a:r>
              <a:t>  FILTER(CONTAINS(LCASE(STR(?label)), "band") || CONTAINS(LCASE(STR(?label)), "silent") || CONTAINS(LCASE(STR(?label)), "film") || CONTAINS(LCASE(STR(?label)), "frames") || CONTAINS(LCASE(STR(?label)), "members"))</a:t>
            </a:r>
            <a:br/>
            <a:r>
              <a:t>}</a:t>
            </a:r>
          </a:p>
          <a:p>
            <a:pPr>
              <a:defRPr sz="800"/>
            </a:pPr>
            <a:r>
              <a:t>Results (n=6): ['a_frames', 'frames', 'pordenone silent film festival', 'silent songs', 'the niles silent film museum', 'the pordenone silent film festival']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344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/>
            </a:pPr>
            <a:r>
              <a:t>Fusion, pruning &amp; validity</a:t>
            </a:r>
          </a:p>
          <a:p>
            <a:pPr>
              <a:defRPr sz="900"/>
            </a:pPr>
            <a:r>
              <a:t>Union |A∪B| = 11</a:t>
            </a:r>
          </a:p>
          <a:p>
            <a:pPr>
              <a:defRPr sz="900"/>
            </a:pPr>
            <a:r>
              <a:t>Kept @τ=0.5 (n=6): ['a_frames', 'frames', 'pordenone silent film festival', 'silent songs', 'the niles silent film museum', 'the pordenone silent film festival']</a:t>
            </a:r>
          </a:p>
          <a:p>
            <a:pPr>
              <a:defRPr sz="900"/>
            </a:pPr>
            <a:r>
              <a:t>Top cosine: a_frames (0.769), the pordenone silent film festival (0.686), silent songs (0.662), pordenone silent film festival (0.651)</a:t>
            </a:r>
          </a:p>
          <a:p>
            <a:pPr>
              <a:defRPr sz="900"/>
            </a:pPr>
            <a:r>
              <a:t>Validity: Branch 1 (n-hop): P=1.000 R=0.286  |  Branch 2 (keyword): P=0.167 R=0.048  |  Union: P=0.545 R=0.286  |  Kept after τ: P=0.167 R=0.048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Rigorous multi-seed study (680 Q, 28 seeds) under fair pipeline controls.</a:t>
            </a:r>
          </a:p>
          <a:p>
            <a:pPr>
              <a:spcAft>
                <a:spcPts val="800"/>
              </a:spcAft>
              <a:defRPr sz="1600"/>
            </a:pPr>
            <a:r>
              <a:t>SP-GQE mechanism is inspectable (SPARQL + validity stages); branches complement at entity level.</a:t>
            </a:r>
          </a:p>
          <a:p>
            <a:pPr>
              <a:spcAft>
                <a:spcPts val="800"/>
              </a:spcAft>
              <a:defRPr sz="1600"/>
            </a:pPr>
            <a:r>
              <a:t>Mean F1: GR-RAG / GQE-RAG competitive; protocol SP-GQE does not beat V-RAG reliably.</a:t>
            </a:r>
          </a:p>
          <a:p>
            <a:pPr>
              <a:spcAft>
                <a:spcPts val="800"/>
              </a:spcAft>
              <a:defRPr sz="1600"/>
            </a:pPr>
            <a:r>
              <a:t>Tuned grid (n*=1, τ*=0.6) raises heatmap-seed F1 but paired CIs still span zero.</a:t>
            </a:r>
          </a:p>
          <a:p>
            <a:pPr>
              <a:spcAft>
                <a:spcPts val="800"/>
              </a:spcAft>
              <a:defRPr sz="1600"/>
            </a:pPr>
            <a:r>
              <a:t>Future: per-question logging at (n*, τ*), SP-GQE-i heatmap arm, larger samples.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